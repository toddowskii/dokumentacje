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3ccf4d1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3ccf4d1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a3ccf4d1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a3ccf4d1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3ccf4d1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a3ccf4d1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3ccf4d1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3ccf4d1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a3ccf4d1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a3ccf4d1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a3ccf4d1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a3ccf4d1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a3ccf4d1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a3ccf4d1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a3ccf4d1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a3ccf4d1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a3ccf4d1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a3ccf4d1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3ccf4d1b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a3ccf4d1b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3ccf4d1b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a3ccf4d1b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a3ccf4d1b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a3ccf4d1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3ccf4d1b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a3ccf4d1b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3ccf4d1b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a3ccf4d1b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3ccf4d1b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a3ccf4d1b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3ccf4d1b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a3ccf4d1b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a3ccf4d1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a3ccf4d1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841450"/>
            <a:ext cx="5017500" cy="24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Gemini CLI &amp; Serwery MCP – Przyszłość Interakcji z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AGENDA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Czym jest Gemini CLI? – Twój prywatny, wszystko-wiedzący agent.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MCP – Tajemniczy most między AI a światem zewnętrznym.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Przypadki użycia – Jak można ułatwić sobie życie z MCP: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AutoNum type="alphaL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PostgreSQL: Inteligentna praca z bazą danych.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AutoNum type="alphaL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GitLab: Automatyzacja pracy dewelopera.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Demo na Żywo: Integracja PostgreSQL.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Bonus: Sztuka Meta Promptingu.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Q&amp;A – Czas na Wasze pytania.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ctrTitle"/>
          </p:nvPr>
        </p:nvSpPr>
        <p:spPr>
          <a:xfrm>
            <a:off x="3537150" y="17349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pl"/>
              <a:t>Wprowadzenie Do Gemini CLI</a:t>
            </a:r>
            <a:endParaRPr/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Czym jest Gemini CLI?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Interfejs wiersza poleceń (CLI):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Pozwala na bezpośrednią, tekstową interakcję z zaawansowanymi modelami AI.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Rozszerzalność: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Jego prawdziwa moc tkwi w możliwości podłączania zewnętrznych narzędzi i usług (Serwery MCP).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Środowisko dla deweloperów: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Stworzony z myślą o inżynierach, adminach i wszystkich, którzy cenią sobie szybkość i efektywność pracy w konsoli.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 używać Gemini CLI?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Instalacja: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Prosta i szybka, zazwyczaj jedna komenda w terminalu.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Konfiguracja: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Połączenie z kontem i ustawienie podstawowych zmiennych środowiskowych.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AutoNum type="arabicPeriod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Interakcja: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Używanie naturalnego języka do wydawania poleceń, zadawania pytań i zlecania zadań.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950" y="3225625"/>
            <a:ext cx="3416524" cy="164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3529700" y="1772250"/>
            <a:ext cx="50175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2. Serwery MCP</a:t>
            </a:r>
            <a:endParaRPr/>
          </a:p>
        </p:txBody>
      </p:sp>
      <p:pic>
        <p:nvPicPr>
          <p:cNvPr id="165" name="Google Shape;165;p18" title="png-clipart-white-and-multicolored-polka-dot-party-hat-party-hat-polka-dot-birthday-hat-birthday-hat-birthday-cake-thumbn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849" y="385125"/>
            <a:ext cx="978950" cy="16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title="png-clipart-birthday-cake-birthday-cake-with-confetti-birthday-cake-illustration-baked-goods-food-thumbna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675" y="2645975"/>
            <a:ext cx="3118177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jest Serwer MCP (Model-Context Protocol)?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Protokół Komunikacyjny: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Standard, który pozwala Gemini "rozmawiać" z zewnętrznymi aplikacjami (jak GitLab, PostgreSQL) w ustrukturyzowany sposób.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Dostęp do Kontekstu: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Serwer MCP dostarcza modelowi AI informacji o stanie aplikacji i udostępnia "narzędzia" (funkcje), których może użyć.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Bezpieczeństwo: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Komunikacja odbywa się w bezpieczny, kontrolowany sposób, dając Ci pełnię władzy nad tym, co AI może zrobić.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5" y="562375"/>
            <a:ext cx="9003450" cy="40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ctrTitle"/>
          </p:nvPr>
        </p:nvSpPr>
        <p:spPr>
          <a:xfrm>
            <a:off x="3537150" y="17823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3. Przypadki Użycia</a:t>
            </a:r>
            <a:endParaRPr/>
          </a:p>
        </p:txBody>
      </p:sp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Usecase 1: PostgreSQL - Inteligenta praca z bazą danych.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Dynamiczne Zapytania: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Zadawaj pytania w naturalnym języku, zamiast pisać skomplikowane SQL.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Montserrat Medium"/>
              <a:buChar char="■"/>
            </a:pPr>
            <a: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Pokaż mi 5 najnowszych zamówień z tabeli 'orders' wraz z danymi klienta.</a:t>
            </a: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Analiza Danych: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Proś o podsumowania i agregacje.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Montserrat Medium"/>
              <a:buChar char="■"/>
            </a:pPr>
            <a: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Jaka jest średnia wartość zamówienia w zeszłym miesiącu?</a:t>
            </a: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Dokumentacja: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Poproś o wygenerowanie dokumentacji dla tabeli lub schematu.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Montserrat Medium"/>
              <a:buChar char="■"/>
            </a:pPr>
            <a: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Opisz strukturę tabeli 'products' w formacie Markdown.</a:t>
            </a: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Korzyść: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Demokratyzacja dostępu do danych. Zarówno deweloperzy, jak i analitycy mogą szybko uzyskiwać potrzebne informacje bez głębokiej znajomości SQL.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Usecase 2: GitLab - Automatyzacja pracy dewelopera.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Zarządzanie Zgłoszeniami (Issues):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 Tworzenie, listowanie i aktualizowanie zadań.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Montserrat Medium"/>
              <a:buChar char="■"/>
            </a:pPr>
            <a: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stwórz issue w projekcie 'X' o tytule 'Poprawka logowania'</a:t>
            </a:r>
            <a:b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Praca z Merge Requestami: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Przeglądanie zmian, dodawanie komentarzy, a nawet mergowanie gałęzi.</a:t>
            </a: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Montserrat Medium"/>
              <a:buChar char="■"/>
            </a:pPr>
            <a: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&gt; pokaż mi diffy w ostatnim MR w projekcie 'Y'</a:t>
            </a:r>
            <a:br>
              <a:rPr lang="pl">
                <a:solidFill>
                  <a:srgbClr val="00FF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solidFill>
                <a:srgbClr val="00FF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Interakcja z Pipeline'ami CI/CD: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Sprawdzanie statusu, ponowne uruchamianie nieudanych zadań.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b="1" lang="pl">
                <a:latin typeface="Montserrat"/>
                <a:ea typeface="Montserrat"/>
                <a:cs typeface="Montserrat"/>
                <a:sym typeface="Montserrat"/>
              </a:rPr>
              <a:t>Korzyść: 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Ogromna oszczędność czasu i redukcja przełączania się między kontekstami (IDE, przeglądarka, terminal).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ctrTitle"/>
          </p:nvPr>
        </p:nvSpPr>
        <p:spPr>
          <a:xfrm>
            <a:off x="3537150" y="17823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4. Demo na żywo!</a:t>
            </a:r>
            <a:endParaRPr/>
          </a:p>
        </p:txBody>
      </p:sp>
      <p:sp>
        <p:nvSpPr>
          <p:cNvPr id="202" name="Google Shape;202;p2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ctrTitle"/>
          </p:nvPr>
        </p:nvSpPr>
        <p:spPr>
          <a:xfrm>
            <a:off x="3537150" y="17275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5. Meta prompting</a:t>
            </a:r>
            <a:endParaRPr/>
          </a:p>
        </p:txBody>
      </p:sp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Cztery filary dobrego metapromptu.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Zdefiniuj Rolę (Persona): Powiedz AI, kim ma być.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Roboto Mono"/>
              <a:buChar char="■"/>
            </a:pP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&gt; "Jesteś seniorem backend developerem..."</a:t>
            </a:r>
            <a:b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O</a:t>
            </a: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kreśl Kontekst i Odbiorcę: Wyjaśnij, dlaczego i dla kogo jest odpowiedź.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Roboto Mono"/>
              <a:buChar char="■"/>
            </a:pP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&gt; "...twoim odbiorcą jest junior uczący się API."</a:t>
            </a:r>
            <a:b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Sprecyzuj Zadanie i Instrukcje: Główne polecenie – bądź klarowny.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Roboto Mono"/>
              <a:buChar char="■"/>
            </a:pP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&gt; "...oceń ten fragment kodu pod kątem bezpieczeństwa."</a:t>
            </a:r>
            <a:b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00FF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Podaj Ograniczenia i Format: Najważniejsza część dla niezawodności.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Roboto Mono"/>
              <a:buChar char="■"/>
            </a:pP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&gt; "...odpowiedź w formacie JSON z kluczami 'ocena' i 'sugestie'.”</a:t>
            </a:r>
            <a:b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l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pl" sz="19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Nie używaj slangu!</a:t>
            </a:r>
            <a:endParaRPr sz="1900">
              <a:solidFill>
                <a:srgbClr val="FF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Podsumowanie!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Gemini CLI to potężny interfejs do pracy z AI.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Serwery MCP otwierają drzwi do integracji z dowolnymi narzędziami, od DevOps po bazy danych.</a:t>
            </a:r>
            <a:b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●"/>
            </a:pPr>
            <a:r>
              <a:rPr lang="pl">
                <a:latin typeface="Montserrat Medium"/>
                <a:ea typeface="Montserrat Medium"/>
                <a:cs typeface="Montserrat Medium"/>
                <a:sym typeface="Montserrat Medium"/>
              </a:rPr>
              <a:t>Świadome sterowanie AI za pomocą Meta Promptingu jest kluczem do uzyskania niezawodnych i precyzyjnych wyników.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3942300" y="1196250"/>
            <a:ext cx="1259400" cy="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3259"/>
              <a:t>Q&amp;A!</a:t>
            </a:r>
            <a:endParaRPr sz="3259"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1362900" y="1786350"/>
            <a:ext cx="6418200" cy="1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9000"/>
              <a:t>PYTANIA?</a:t>
            </a:r>
            <a:endParaRPr sz="9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ctrTitle"/>
          </p:nvPr>
        </p:nvSpPr>
        <p:spPr>
          <a:xfrm>
            <a:off x="227300" y="3181075"/>
            <a:ext cx="4621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700"/>
              <a:t>Maksymilian Kwiatkowski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700"/>
              <a:t>i Bartosz Kozer</a:t>
            </a:r>
            <a:endParaRPr sz="2700"/>
          </a:p>
        </p:txBody>
      </p:sp>
      <p:sp>
        <p:nvSpPr>
          <p:cNvPr id="232" name="Google Shape;232;p29"/>
          <p:cNvSpPr txBox="1"/>
          <p:nvPr>
            <p:ph idx="1" type="subTitle"/>
          </p:nvPr>
        </p:nvSpPr>
        <p:spPr>
          <a:xfrm>
            <a:off x="1358600" y="4284150"/>
            <a:ext cx="2359200" cy="3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Technikum Elektroniczne nr.3</a:t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925" y="72675"/>
            <a:ext cx="3846025" cy="499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600" y="696805"/>
            <a:ext cx="4419600" cy="214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